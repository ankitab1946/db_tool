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PRJ Data Dictionary Administration Platform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 w="12700">
            <a:solidFill>
              <a:srgbClr val="F5F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72B4D"/>
          </a:solidFill>
          <a:ln w="12700">
            <a:solidFill>
              <a:srgbClr val="172B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0"/>
            <a:ext cx="10058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DATA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DICTIONARY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FB6FF"/>
                </a:solidFill>
              </a:rPr>
              <a:t>ADMINISTRATION PLATFORM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28346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6EBF5"/>
                </a:solidFill>
              </a:rPr>
              <a:t>Governed change management for PRJ / CFV attributes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0" y="114300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B4D"/>
                </a:solidFill>
              </a:rPr>
              <a:t>From spreadsheet-driven administration to a controlled, API-driven workflow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4434840" y="2560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5EFF"/>
                </a:solidFill>
              </a:rPr>
              <a:t>Create • Validate • Stage • Compare • Finalize • Audit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37033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38130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5EFF"/>
                </a:solidFill>
              </a:rPr>
              <a:t>Stage → Final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81144" y="4151376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44054"/>
                </a:solidFill>
              </a:rPr>
              <a:t>Controlled publication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20840" y="37033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7144" y="38130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A6A6"/>
                </a:solidFill>
              </a:rPr>
              <a:t>Postgres + SQL Server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67144" y="4151376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44054"/>
                </a:solidFill>
              </a:rPr>
              <a:t>Database options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006840" y="37033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3144" y="38130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9F6E"/>
                </a:solidFill>
              </a:rPr>
              <a:t>Audit + Discard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53144" y="4151376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44054"/>
                </a:solidFill>
              </a:rPr>
              <a:t>Governance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3484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Management / Product / Engineering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 single administration layer for controlled Data Dictionary change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651760" cy="29718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B8C1D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27632"/>
            <a:ext cx="438912" cy="438912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282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EFF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Centralize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44054"/>
                </a:solidFill>
              </a:rPr>
              <a:t>Create, edit, bulk upload and search attributes from one governed interface.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651760" cy="29718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B8C1D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627632"/>
            <a:ext cx="438912" cy="43891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7282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EFF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Validate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6160" y="26974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44054"/>
                </a:solidFill>
              </a:rPr>
              <a:t>Standardize physical names, prevent duplicates, normalize defaults and expose clear rejection reasons.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2651760" cy="29718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B8C1D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627632"/>
            <a:ext cx="438912" cy="43891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7282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EFF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5508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Govern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55080" y="26974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44054"/>
                </a:solidFill>
              </a:rPr>
              <a:t>Stage changes first, review delta, finalize deliberately, discard selected changes and retain audit history.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417320"/>
            <a:ext cx="2651760" cy="29718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B8C1D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0" y="162763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7282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EFF"/>
                </a:solidFill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</a:rPr>
              <a:t>Scale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0" y="26974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44054"/>
                </a:solidFill>
              </a:rPr>
              <a:t>Support PostgreSQL and SQL Server, bulk Excel processing, configurable target tables and API access.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" y="470916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172B4D"/>
          </a:solidFill>
          <a:ln w="12700">
            <a:solidFill>
              <a:srgbClr val="172B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983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6FF"/>
                </a:solidFill>
              </a:rPr>
              <a:t>Business outcome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48840" y="4864608"/>
            <a:ext cx="9006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Less manual reconciliation • fewer avoidable errors • faster controlled change • stronger audit readiness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application was needed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The problem is not editing a row—it is controlling the entire change lifecycle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21792" y="141732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50800" dir="2700000">
              <a:srgbClr val="B8C1D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276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68780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D64545"/>
                </a:solidFill>
              </a:rPr>
              <a:t>BEFORE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</a:rPr>
              <a:t>Spreadsheet / manual administration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52628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2715" indent="-132715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SQL or engineering support needed for many changes</a:t>
            </a:r>
            <a:endParaRPr lang="en-US" sz="1100" dirty="0"/>
          </a:p>
          <a:p>
            <a:pPr marL="132715" indent="-132715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/ inconsistent physical names discovered late</a:t>
            </a:r>
            <a:endParaRPr lang="en-US" sz="1100" dirty="0"/>
          </a:p>
          <a:p>
            <a:pPr marL="132715" indent="-132715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distinguish staged changes from production data</a:t>
            </a:r>
            <a:endParaRPr lang="en-US" sz="1100" dirty="0"/>
          </a:p>
          <a:p>
            <a:pPr marL="132715" indent="-132715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Bulk files require repetitive validation and reconciliation</a:t>
            </a:r>
            <a:endParaRPr lang="en-US" sz="1100" dirty="0"/>
          </a:p>
          <a:p>
            <a:pPr marL="132715" indent="-132715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evidence is fragmented across spreadsheets and database logs</a:t>
            </a:r>
            <a:endParaRPr lang="en-US" sz="1100" dirty="0"/>
          </a:p>
          <a:p>
            <a:pPr marL="132715" indent="-132715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Reverting a bad pending change is operationally expensive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3291840"/>
            <a:ext cx="502920" cy="292608"/>
          </a:xfrm>
          <a:prstGeom prst="chevron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1417320"/>
            <a:ext cx="5010912" cy="4434840"/>
          </a:xfrm>
          <a:prstGeom prst="roundRect">
            <a:avLst>
              <a:gd name="adj" fmla="val 1649"/>
            </a:avLst>
          </a:prstGeom>
          <a:solidFill>
            <a:srgbClr val="EAF0FF"/>
          </a:solidFill>
          <a:ln w="12700">
            <a:solidFill>
              <a:srgbClr val="D6E1FF"/>
            </a:solidFill>
            <a:prstDash val="solid"/>
          </a:ln>
          <a:effectLst>
            <a:outerShdw sx="100000" sy="100000" kx="0" ky="0" algn="bl" rotWithShape="0" blurRad="19050" dist="50800" dir="2700000">
              <a:srgbClr val="B8C1D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30568" y="1627632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DCE7FF"/>
          </a:solidFill>
          <a:ln w="12700">
            <a:solidFill>
              <a:srgbClr val="DCE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94576" y="1668780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F5EFF"/>
                </a:solidFill>
              </a:rPr>
              <a:t>TARGET STATE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30568" y="2011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</a:rPr>
              <a:t>Controlled self-service administration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30568" y="2514600"/>
            <a:ext cx="420624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2715" indent="-132715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and API-driven create, edit and bulk upload</a:t>
            </a:r>
            <a:endParaRPr lang="en-US" sz="1100" dirty="0"/>
          </a:p>
          <a:p>
            <a:pPr marL="132715" indent="-132715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before data reaches Final tables</a:t>
            </a:r>
            <a:endParaRPr lang="en-US" sz="1100" dirty="0"/>
          </a:p>
          <a:p>
            <a:pPr marL="132715" indent="-132715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preview with explicit Finalize decision</a:t>
            </a:r>
            <a:endParaRPr lang="en-US" sz="1100" dirty="0"/>
          </a:p>
          <a:p>
            <a:pPr marL="132715" indent="-132715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Selective Discard Finalize for unwanted pending changes</a:t>
            </a:r>
            <a:endParaRPr lang="en-US" sz="1100" dirty="0"/>
          </a:p>
          <a:p>
            <a:pPr marL="132715" indent="-132715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Reference-driven Portfolio / Source values</a:t>
            </a:r>
            <a:endParaRPr lang="en-US" sz="1100" dirty="0"/>
          </a:p>
          <a:p>
            <a:pPr marL="132715" indent="-132715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Auditable, repeatable process across PostgreSQL and SQL Server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application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Every change passes through a controlled staging gate before it can become final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EAF0FF"/>
          </a:solidFill>
          <a:ln w="12700">
            <a:solidFill>
              <a:srgbClr val="D6E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299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B4D"/>
                </a:solidFill>
              </a:rPr>
              <a:t>UI Create / Edit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3591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44054"/>
                </a:solidFill>
              </a:rPr>
              <a:t>or Excel Bulk Upload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304288" y="2194560"/>
            <a:ext cx="438912" cy="292608"/>
          </a:xfrm>
          <a:prstGeom prst="chevron">
            <a:avLst/>
          </a:prstGeom>
          <a:solidFill>
            <a:srgbClr val="AFC2F8"/>
          </a:solidFill>
          <a:ln w="12700">
            <a:solidFill>
              <a:srgbClr val="AFC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1664208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</a:rPr>
              <a:t>FastAPI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99232" y="224028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44054"/>
                </a:solidFill>
              </a:rPr>
              <a:t>Validation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44054"/>
                </a:solidFill>
              </a:rPr>
              <a:t>Business rules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44054"/>
                </a:solidFill>
              </a:rPr>
              <a:t>Reference lookups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4462272" y="2194560"/>
            <a:ext cx="438912" cy="292608"/>
          </a:xfrm>
          <a:prstGeom prst="chevron">
            <a:avLst/>
          </a:prstGeom>
          <a:solidFill>
            <a:srgbClr val="AFC2F8"/>
          </a:solidFill>
          <a:ln w="12700">
            <a:solidFill>
              <a:srgbClr val="AFC2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56048" y="1664208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E8F8F7"/>
          </a:solidFill>
          <a:ln w="12700">
            <a:solidFill>
              <a:srgbClr val="CDEB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1808" y="18745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6A6"/>
                </a:solidFill>
              </a:rPr>
              <a:t>Raw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93792" y="226771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44054"/>
                </a:solidFill>
              </a:rPr>
              <a:t>Initial captured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344054"/>
                </a:solidFill>
              </a:rPr>
              <a:t>attribute data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528816" y="2194560"/>
            <a:ext cx="438912" cy="292608"/>
          </a:xfrm>
          <a:prstGeom prst="chevron">
            <a:avLst/>
          </a:prstGeom>
          <a:solidFill>
            <a:srgbClr val="AFC2F8"/>
          </a:solidFill>
          <a:ln w="12700">
            <a:solidFill>
              <a:srgbClr val="AFC2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22592" y="1325880"/>
            <a:ext cx="1920240" cy="2057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79792" y="1508760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1549908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59E0B"/>
                </a:solidFill>
              </a:rPr>
              <a:t>STAGING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360920" y="1993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B4D"/>
                </a:solidFill>
              </a:rPr>
              <a:t>Master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60920" y="23317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B4D"/>
                </a:solidFill>
              </a:rPr>
              <a:t>Business Rules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60920" y="26700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B4D"/>
                </a:solidFill>
              </a:rPr>
              <a:t>Display / Scope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70848" y="2194560"/>
            <a:ext cx="438912" cy="292608"/>
          </a:xfrm>
          <a:prstGeom prst="chevron">
            <a:avLst/>
          </a:prstGeom>
          <a:solidFill>
            <a:srgbClr val="AFC2F8"/>
          </a:solidFill>
          <a:ln w="12700">
            <a:solidFill>
              <a:srgbClr val="AFC2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64624" y="1444752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EAF8F1"/>
          </a:solidFill>
          <a:ln w="12700">
            <a:solidFill>
              <a:srgbClr val="CFEC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6E"/>
                </a:solidFill>
              </a:rPr>
              <a:t>Validate &amp; Compare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02368" y="22128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44054"/>
                </a:solidFill>
              </a:rPr>
              <a:t>Insert / Update / Delete / Unchanged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44054"/>
                </a:solidFill>
              </a:rPr>
              <a:t>Field-level Before vs After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561320" y="3246120"/>
            <a:ext cx="0" cy="502920"/>
          </a:xfrm>
          <a:prstGeom prst="line">
            <a:avLst/>
          </a:prstGeom>
          <a:noFill/>
          <a:ln w="25400">
            <a:solidFill>
              <a:srgbClr val="AFC2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60920" y="38862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DECEC"/>
          </a:solidFill>
          <a:ln w="12700">
            <a:solidFill>
              <a:srgbClr val="F5D2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4133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4545"/>
                </a:solidFill>
              </a:rPr>
              <a:t>Discard Finalize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89520" y="4480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44054"/>
                </a:solidFill>
              </a:rPr>
              <a:t>Remove selected pending PRJs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344054"/>
                </a:solidFill>
              </a:rPr>
              <a:t>Final remains unchanged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12680" y="388620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EAF8F1"/>
          </a:solidFill>
          <a:ln w="12700">
            <a:solidFill>
              <a:srgbClr val="CFEC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87000" y="41330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6E"/>
                </a:solidFill>
              </a:rPr>
              <a:t>Finalize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22992" y="45537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44054"/>
                </a:solidFill>
              </a:rPr>
              <a:t>Transactional publish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10899648" y="5029200"/>
            <a:ext cx="0" cy="411480"/>
          </a:xfrm>
          <a:prstGeom prst="line">
            <a:avLst/>
          </a:prstGeom>
          <a:noFill/>
          <a:ln w="25400">
            <a:solidFill>
              <a:srgbClr val="AFC2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98280" y="5468112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172B4D"/>
          </a:solidFill>
          <a:ln w="12700">
            <a:solidFill>
              <a:srgbClr val="172B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08592" y="56327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Final Master + Business Rules + Display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8368" y="4069080"/>
            <a:ext cx="5897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" y="4297680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4338828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F5EFF"/>
                </a:solidFill>
              </a:rPr>
              <a:t>GOVERNANCE LANE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487168" y="4315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</a:rPr>
              <a:t>Audit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063240" y="431596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44054"/>
                </a:solidFill>
              </a:rPr>
              <a:t>Before / after, action, user, source, timestamp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2487168" y="47091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</a:rPr>
              <a:t>S3 Export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37560" y="47091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44054"/>
                </a:solidFill>
              </a:rPr>
              <a:t>Controlled extract for downstream use / sharing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2487168" y="50840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</a:rPr>
              <a:t>Role controls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01568" y="50840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44054"/>
                </a:solidFill>
              </a:rPr>
              <a:t>Admin/User access paths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functionality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Designed around the day-to-day activities of dictionary administrators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81912"/>
            <a:ext cx="438912" cy="438912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6824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EFF"/>
                </a:solidFill>
              </a:rPr>
              <a:t>C/E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53312" y="14721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</a:rPr>
              <a:t>Create / Edit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97480" y="144475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44054"/>
                </a:solidFill>
              </a:rPr>
              <a:t>Generated PRJ/CFV ID, auto physical name, scope-specific details and controlled editability.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18504" y="1581912"/>
            <a:ext cx="438912" cy="438912"/>
          </a:xfrm>
          <a:prstGeom prst="ellipse">
            <a:avLst/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6824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XL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85432" y="14721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</a:rPr>
              <a:t>Bulk Excel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0" y="144475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44054"/>
                </a:solidFill>
              </a:rPr>
              <a:t>MERGE, REPLACE and INSERT_ONLY with sheet mapping, header/data-row controls and validation.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40080" y="2496312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2752344"/>
            <a:ext cx="438912" cy="438912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28529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9F6E"/>
                </a:solidFill>
              </a:rPr>
              <a:t>V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53312" y="26426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</a:rPr>
              <a:t>View Latest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697480" y="261518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44054"/>
                </a:solidFill>
              </a:rPr>
              <a:t>Filter by portfolio, source, PRJ ID, attribute, section, subsection and inactive state.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172200" y="2496312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2752344"/>
            <a:ext cx="438912" cy="438912"/>
          </a:xfrm>
          <a:prstGeom prst="ellipse">
            <a:avLst/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28529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85432" y="26426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</a:rPr>
              <a:t>Validate &amp; Compare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0" y="261518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44054"/>
                </a:solidFill>
              </a:rPr>
              <a:t>Insert / Update / Delete / Unchanged metrics plus readable before/after field deltas.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40080" y="3666744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3922776"/>
            <a:ext cx="438912" cy="438912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" y="402336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EFF"/>
                </a:solidFill>
              </a:rPr>
              <a:t>F/D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53312" y="38130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</a:rPr>
              <a:t>Finalize / Discard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697480" y="378561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44054"/>
                </a:solidFill>
              </a:rPr>
              <a:t>Publish selected staged changes—or discard selected pending PRJs without changing Final.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6172200" y="3666744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18504" y="3922776"/>
            <a:ext cx="438912" cy="438912"/>
          </a:xfrm>
          <a:prstGeom prst="ellipse">
            <a:avLst/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402336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85432" y="38130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</a:rPr>
              <a:t>Audit &amp; History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29600" y="378561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44054"/>
                </a:solidFill>
              </a:rPr>
              <a:t>Before/after values, action, source operation, user and timestamp for traceability.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640080" y="4837176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" y="5093208"/>
            <a:ext cx="438912" cy="438912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" y="519379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9F6E"/>
                </a:solidFill>
              </a:rPr>
              <a:t>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53312" y="4983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</a:rPr>
              <a:t>Soft Delete / Reactivate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2697480" y="49560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44054"/>
                </a:solidFill>
              </a:rPr>
              <a:t>Controlled logical lifecycle instead of destructive deletion for normal operations.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72200" y="4837176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18504" y="5093208"/>
            <a:ext cx="438912" cy="438912"/>
          </a:xfrm>
          <a:prstGeom prst="ellipse">
            <a:avLst/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64224" y="519379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ADM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85432" y="4983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B4D"/>
                </a:solidFill>
              </a:rPr>
              <a:t>Admin Utilities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229600" y="49560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44054"/>
                </a:solidFill>
              </a:rPr>
              <a:t>S3 export, database cleanup safeguards, role-based controls and Swagger APIs.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Built-in data quality automation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Prevent defects before they reach the final dictionary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B8C1D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45920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87068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F5EFF"/>
                </a:solidFill>
              </a:rPr>
              <a:t>NAMING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" y="20574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</a:rPr>
              <a:t>Physical attribute name control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560320"/>
            <a:ext cx="269748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3063" indent="-123063">
              <a:buSzPct val="100000"/>
              <a:buChar char="•"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Blank Excel value → auto-generated programmatically</a:t>
            </a:r>
            <a:endParaRPr lang="en-US" sz="1020" dirty="0"/>
          </a:p>
          <a:p>
            <a:pPr marL="123063" indent="-123063">
              <a:buSzPct val="100000"/>
              <a:buChar char="•"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Raw + Staging + Final + current workbook batch</a:t>
            </a:r>
            <a:endParaRPr lang="en-US" sz="1020" dirty="0"/>
          </a:p>
          <a:p>
            <a:pPr marL="123063" indent="-123063">
              <a:buSzPct val="100000"/>
              <a:buChar char="•"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 next unique candidate when required</a:t>
            </a:r>
            <a:endParaRPr lang="en-US" sz="1020" dirty="0"/>
          </a:p>
          <a:p>
            <a:pPr marL="123063" indent="-123063">
              <a:buSzPct val="100000"/>
              <a:buChar char="•"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duplicate values remain strict and are rejected with CFV details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914400" y="4846320"/>
            <a:ext cx="2651760" cy="5943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0109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F5EFF"/>
                </a:solidFill>
              </a:rPr>
              <a:t>Total Assets → tot_assets → tot_assets_2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370832" y="141732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B8C1D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8576" y="164592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168706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0A6A6"/>
                </a:solidFill>
              </a:rPr>
              <a:t>NORMALIZATION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608576" y="20574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</a:rPr>
              <a:t>Consistent defaults &amp; logic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08576" y="2560320"/>
            <a:ext cx="269748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3063" indent="-123063">
              <a:buSzPct val="100000"/>
              <a:buChar char="•"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Blank Section / Sub-Section → N/A</a:t>
            </a:r>
            <a:endParaRPr lang="en-US" sz="1020" dirty="0"/>
          </a:p>
          <a:p>
            <a:pPr marL="123063" indent="-123063">
              <a:buSzPct val="100000"/>
              <a:buChar char="•"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Logic generated from Calculation Logic</a:t>
            </a:r>
            <a:endParaRPr lang="en-US" sz="1020" dirty="0"/>
          </a:p>
          <a:p>
            <a:pPr marL="123063" indent="-123063">
              <a:buSzPct val="100000"/>
              <a:buChar char="•"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Pipe-separated scope values expanded positionally</a:t>
            </a:r>
            <a:endParaRPr lang="en-US" sz="1020" dirty="0"/>
          </a:p>
          <a:p>
            <a:pPr marL="123063" indent="-123063">
              <a:buSzPct val="100000"/>
              <a:buChar char="•"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/ Source populated from controlled reference tables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617720" y="4846320"/>
            <a:ext cx="2651760" cy="594360"/>
          </a:xfrm>
          <a:prstGeom prst="roundRect">
            <a:avLst/>
          </a:prstGeom>
          <a:solidFill>
            <a:srgbClr val="E8F8F7"/>
          </a:solidFill>
          <a:ln w="12700">
            <a:solidFill>
              <a:srgbClr val="CFED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965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0A6A6"/>
                </a:solidFill>
              </a:rPr>
              <a:t>Total|Liabilities + Current|Current2 → 2 scope rows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083296" y="141732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B8C1D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645920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16870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59E0B"/>
                </a:solidFill>
              </a:rPr>
              <a:t>VALIDATION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321040" y="20574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</a:rPr>
              <a:t>Fail early, explain clearly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2560320"/>
            <a:ext cx="269748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3063" indent="-123063">
              <a:buSzPct val="100000"/>
              <a:buChar char="•"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 items show actionable reasons</a:t>
            </a:r>
            <a:endParaRPr lang="en-US" sz="1020" dirty="0"/>
          </a:p>
          <a:p>
            <a:pPr marL="123063" indent="-123063">
              <a:buSzPct val="100000"/>
              <a:buChar char="•"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ownership identifies involved PRJ / CFV IDs</a:t>
            </a:r>
            <a:endParaRPr lang="en-US" sz="1020" dirty="0"/>
          </a:p>
          <a:p>
            <a:pPr marL="123063" indent="-123063">
              <a:buSzPct val="100000"/>
              <a:buChar char="•"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readiness errors replace generic 500s where possible</a:t>
            </a:r>
            <a:endParaRPr lang="en-US" sz="1020" dirty="0"/>
          </a:p>
          <a:p>
            <a:pPr marL="123063" indent="-123063">
              <a:buSzPct val="100000"/>
              <a:buChar char="•"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 validates target tables and portfolio references before commit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339328" y="4846320"/>
            <a:ext cx="2651760" cy="59436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5E3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50292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66300"/>
                </a:solidFill>
              </a:rPr>
              <a:t>Detect before Finalize—not after deployment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change lifecycle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 deliberate publication model reduces accidental production changes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2057400" cy="2423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084832"/>
            <a:ext cx="640080" cy="640080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6192" y="22494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2880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B4D"/>
                </a:solidFill>
              </a:rPr>
              <a:t>Stage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33101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Create/Edit/Bulk writes to staging first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2779776" y="2834640"/>
            <a:ext cx="365760" cy="292608"/>
          </a:xfrm>
          <a:prstGeom prst="chevron">
            <a:avLst/>
          </a:prstGeom>
          <a:solidFill>
            <a:srgbClr val="AFC2F8"/>
          </a:solidFill>
          <a:ln w="12700">
            <a:solidFill>
              <a:srgbClr val="AFC2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828800"/>
            <a:ext cx="2057400" cy="2423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2084832"/>
            <a:ext cx="640080" cy="64008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22494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27248" y="2880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B4D"/>
                </a:solidFill>
              </a:rPr>
              <a:t>Compare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27248" y="33101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Delta shows inserts, updates, deletes and field-level before/after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047488" y="2834640"/>
            <a:ext cx="365760" cy="292608"/>
          </a:xfrm>
          <a:prstGeom prst="chevron">
            <a:avLst/>
          </a:prstGeom>
          <a:solidFill>
            <a:srgbClr val="AFC2F8"/>
          </a:solidFill>
          <a:ln w="12700">
            <a:solidFill>
              <a:srgbClr val="AFC2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93792" y="1828800"/>
            <a:ext cx="2057400" cy="2423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07024" y="2084832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22494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880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B4D"/>
                </a:solidFill>
              </a:rPr>
              <a:t>Decide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94960" y="33101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Select pending PRJs and choose Finalize or Discard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315200" y="2834640"/>
            <a:ext cx="365760" cy="292608"/>
          </a:xfrm>
          <a:prstGeom prst="chevron">
            <a:avLst/>
          </a:prstGeom>
          <a:solidFill>
            <a:srgbClr val="AFC2F8"/>
          </a:solidFill>
          <a:ln w="12700">
            <a:solidFill>
              <a:srgbClr val="AFC2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61504" y="1828800"/>
            <a:ext cx="2057400" cy="2423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74736" y="2084832"/>
            <a:ext cx="640080" cy="64008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22494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62672" y="2880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B4D"/>
                </a:solidFill>
              </a:rPr>
              <a:t>Publish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62672" y="33101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Finalize writes Final tables transactionally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9582912" y="2834640"/>
            <a:ext cx="365760" cy="292608"/>
          </a:xfrm>
          <a:prstGeom prst="chevron">
            <a:avLst/>
          </a:prstGeom>
          <a:solidFill>
            <a:srgbClr val="AFC2F8"/>
          </a:solidFill>
          <a:ln w="12700">
            <a:solidFill>
              <a:srgbClr val="AFC2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29216" y="1828800"/>
            <a:ext cx="2057400" cy="2423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42448" y="2084832"/>
            <a:ext cx="640080" cy="640080"/>
          </a:xfrm>
          <a:prstGeom prst="ellipse">
            <a:avLst/>
          </a:prstGeom>
          <a:solidFill>
            <a:srgbClr val="172B4D"/>
          </a:solidFill>
          <a:ln w="12700">
            <a:solidFill>
              <a:srgbClr val="172B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0" y="22494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30384" y="2880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B4D"/>
                </a:solidFill>
              </a:rPr>
              <a:t>Trace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930384" y="33101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Audit records action, user, source and before/after values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960120" y="4617720"/>
            <a:ext cx="10287000" cy="960120"/>
          </a:xfrm>
          <a:prstGeom prst="roundRect">
            <a:avLst>
              <a:gd name="adj" fmla="val 7619"/>
            </a:avLst>
          </a:prstGeom>
          <a:solidFill>
            <a:srgbClr val="EAF8F1"/>
          </a:solidFill>
          <a:ln w="12700">
            <a:solidFill>
              <a:srgbClr val="CFEC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0" y="4846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F6E"/>
                </a:solidFill>
              </a:rPr>
              <a:t>Discard Finalize = safe reversal of pending changes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617720" y="4736592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4054"/>
                </a:solidFill>
              </a:rPr>
              <a:t>Selected staged PRJs are removed; Final data remains untouched. New discarded PRJs are also released from Raw so IDs / physical names are not unnecessarily reserved.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Flexible architecture without duplicating business logic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One application layer supports multiple databases and configurable physical targets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EAF0FF"/>
          </a:solidFill>
          <a:ln w="12700">
            <a:solidFill>
              <a:srgbClr val="D9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6459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</a:rPr>
              <a:t>Streamlit UI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9536" y="214884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Self-service administration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Role-based controls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3063240" y="141732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9544" y="16459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</a:rPr>
              <a:t>FastAPI / Swagger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9544" y="214884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API-first operations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Validation &amp; orchestration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440680" y="141732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EAF0FF"/>
          </a:solidFill>
          <a:ln w="12700">
            <a:solidFill>
              <a:srgbClr val="D9E3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6984" y="16459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</a:rPr>
              <a:t>Service + Repository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86984" y="214884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Business rules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Delta / Finalize / Audit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882128" y="1417320"/>
            <a:ext cx="1783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3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8432" y="164592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</a:rPr>
              <a:t>SQLAlchemy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8432" y="2148840"/>
            <a:ext cx="1490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ORM + per-request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table routing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633472" y="2011680"/>
            <a:ext cx="329184" cy="292608"/>
          </a:xfrm>
          <a:prstGeom prst="chevron">
            <a:avLst/>
          </a:prstGeom>
          <a:solidFill>
            <a:srgbClr val="AFC2F8"/>
          </a:solidFill>
          <a:ln w="12700">
            <a:solidFill>
              <a:srgbClr val="AFC2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2011680"/>
            <a:ext cx="329184" cy="292608"/>
          </a:xfrm>
          <a:prstGeom prst="chevron">
            <a:avLst/>
          </a:prstGeom>
          <a:solidFill>
            <a:srgbClr val="AFC2F8"/>
          </a:solidFill>
          <a:ln w="12700">
            <a:solidFill>
              <a:srgbClr val="AFC2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24928" y="2011680"/>
            <a:ext cx="329184" cy="292608"/>
          </a:xfrm>
          <a:prstGeom prst="chevron">
            <a:avLst/>
          </a:prstGeom>
          <a:solidFill>
            <a:srgbClr val="AFC2F8"/>
          </a:solidFill>
          <a:ln w="12700">
            <a:solidFill>
              <a:srgbClr val="AFC2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38328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9050" dist="50800" dir="2700000">
              <a:srgbClr val="B8C1D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3639312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680460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0A6A6"/>
                </a:solidFill>
              </a:rPr>
              <a:t>POSTGRESQL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331720" y="3666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6A6"/>
                </a:solidFill>
              </a:rPr>
              <a:t>Default database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0120" y="4069080"/>
            <a:ext cx="438912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18237" indent="-118237">
              <a:buSzPct val="100000"/>
              <a:buChar char="•"/>
            </a:pPr>
            <a:r>
              <a:rPr lang="en-US" sz="9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schema: PG_SCHEMA (default prj_dbd)</a:t>
            </a:r>
            <a:endParaRPr lang="en-US" sz="980" dirty="0"/>
          </a:p>
          <a:p>
            <a:pPr marL="118237" indent="-118237">
              <a:buSzPct val="100000"/>
              <a:buChar char="•"/>
            </a:pPr>
            <a:r>
              <a:rPr lang="en-US" sz="9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 schema: prj_stage</a:t>
            </a:r>
            <a:endParaRPr lang="en-US" sz="980" dirty="0"/>
          </a:p>
          <a:p>
            <a:pPr marL="118237" indent="-118237">
              <a:buSzPct val="100000"/>
              <a:buChar char="•"/>
            </a:pPr>
            <a:r>
              <a:rPr lang="en-US" sz="9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Portfolio: prj_dbd.prj_portfolio_reference</a:t>
            </a:r>
            <a:endParaRPr lang="en-US" sz="980" dirty="0"/>
          </a:p>
          <a:p>
            <a:pPr marL="118237" indent="-118237">
              <a:buSzPct val="100000"/>
              <a:buChar char="•"/>
            </a:pPr>
            <a:r>
              <a:rPr lang="en-US" sz="9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prj_dbd.prj_data_sources</a:t>
            </a:r>
            <a:endParaRPr lang="en-US" sz="980" dirty="0"/>
          </a:p>
          <a:p>
            <a:pPr marL="118237" indent="-118237">
              <a:buSzPct val="100000"/>
              <a:buChar char="•"/>
            </a:pPr>
            <a:r>
              <a:rPr lang="en-US" sz="9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master column: segment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236208" y="338328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9050" dist="50800" dir="2700000">
              <a:srgbClr val="B8C1D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3639312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3680460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F5EFF"/>
                </a:solidFill>
              </a:rPr>
              <a:t>SQL SERVER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818120" y="36667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EFF"/>
                </a:solidFill>
              </a:rPr>
              <a:t>Parallel support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2240" y="4069080"/>
            <a:ext cx="438912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18237" indent="-118237">
              <a:buSzPct val="100000"/>
              <a:buChar char="•"/>
            </a:pPr>
            <a:r>
              <a:rPr lang="en-US" sz="9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schema: dbo</a:t>
            </a:r>
            <a:endParaRPr lang="en-US" sz="980" dirty="0"/>
          </a:p>
          <a:p>
            <a:pPr marL="118237" indent="-118237">
              <a:buSzPct val="100000"/>
              <a:buChar char="•"/>
            </a:pPr>
            <a:r>
              <a:rPr lang="en-US" sz="9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 schema: stg</a:t>
            </a:r>
            <a:endParaRPr lang="en-US" sz="980" dirty="0"/>
          </a:p>
          <a:p>
            <a:pPr marL="118237" indent="-118237">
              <a:buSzPct val="100000"/>
              <a:buChar char="•"/>
            </a:pPr>
            <a:r>
              <a:rPr lang="en-US" sz="9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reference-table conventions preserved</a:t>
            </a:r>
            <a:endParaRPr lang="en-US" sz="980" dirty="0"/>
          </a:p>
          <a:p>
            <a:pPr marL="118237" indent="-118237">
              <a:buSzPct val="100000"/>
              <a:buChar char="•"/>
            </a:pPr>
            <a:r>
              <a:rPr lang="en-US" sz="9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API / service logic across engines</a:t>
            </a:r>
            <a:endParaRPr lang="en-US" sz="980" dirty="0"/>
          </a:p>
          <a:p>
            <a:pPr marL="118237" indent="-118237">
              <a:buSzPct val="100000"/>
              <a:buChar char="•"/>
            </a:pPr>
            <a:r>
              <a:rPr lang="en-US" sz="9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database-specific UI duplication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777240" y="5852160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667085"/>
                </a:solidFill>
              </a:rPr>
              <a:t>Administrators can also redirect the three staging and three final table basenames from the UI to existing compatible physical tables.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 data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Business logic and display/scope concerns are separated while retaining a common scope identity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4F8FF"/>
          </a:solidFill>
          <a:ln w="15240">
            <a:solidFill>
              <a:srgbClr val="BDD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600200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41348"/>
            <a:ext cx="923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F5EFF"/>
                </a:solidFill>
              </a:rPr>
              <a:t>PRJ_DBD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057400" y="16367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EFF"/>
                </a:solidFill>
              </a:rPr>
              <a:t>Main / reference schema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057400"/>
            <a:ext cx="1874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2677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B4D"/>
                </a:solidFill>
              </a:rPr>
              <a:t>prj_portfolio_reference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3035808" y="2057400"/>
            <a:ext cx="1874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226771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B4D"/>
                </a:solidFill>
              </a:rPr>
              <a:t>prj_data_sources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914400" y="31546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8F8F7"/>
          </a:solidFill>
          <a:ln w="12700">
            <a:solidFill>
              <a:srgbClr val="CDEB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3832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6A6"/>
                </a:solidFill>
              </a:rPr>
              <a:t>Final Master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370332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344054"/>
                </a:solidFill>
              </a:rPr>
              <a:t>PRJ identity + name + segment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926080" y="31546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5DF"/>
          </a:solidFill>
          <a:ln w="12700">
            <a:solidFill>
              <a:srgbClr val="F3DF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338328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66300"/>
                </a:solidFill>
              </a:rPr>
              <a:t>Final Business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370332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344054"/>
                </a:solidFill>
              </a:rPr>
              <a:t>scope_id + logic + source + portfolio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1920240" y="4498848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AF8F1"/>
          </a:solidFill>
          <a:ln w="12700">
            <a:solidFill>
              <a:srgbClr val="CFE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9696" y="47365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6E"/>
                </a:solidFill>
              </a:rPr>
              <a:t>Final Display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48256" y="504748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344054"/>
                </a:solidFill>
              </a:rPr>
              <a:t>display_id + scope_id + section + report type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2715768" y="3630168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822192" y="4133088"/>
            <a:ext cx="-731520" cy="38404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697480" y="4114800"/>
            <a:ext cx="109728" cy="38404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847088" y="2852928"/>
            <a:ext cx="1783080" cy="29260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977640" y="2852928"/>
            <a:ext cx="0" cy="29260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63640" y="137160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7FCFB"/>
          </a:solidFill>
          <a:ln w="15240">
            <a:solidFill>
              <a:srgbClr val="BFE7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0528" y="160020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4536" y="1641348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0A6A6"/>
                </a:solidFill>
              </a:rPr>
              <a:t>PRJ_STAGE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882128" y="16367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A6"/>
                </a:solidFill>
              </a:rPr>
              <a:t>Staging schema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23317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9712" y="257860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B4D"/>
                </a:solidFill>
              </a:rPr>
              <a:t>Staging Master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22792" y="23317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14816" y="257860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B4D"/>
                </a:solidFill>
              </a:rPr>
              <a:t>Staging Business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26096" y="3822192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27264" y="4069080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B4D"/>
                </a:solidFill>
              </a:rPr>
              <a:t>Staging Display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2816352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491472" y="3291840"/>
            <a:ext cx="-685800" cy="5303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629400" y="2788920"/>
            <a:ext cx="-658368" cy="777240"/>
          </a:xfrm>
          <a:prstGeom prst="line">
            <a:avLst/>
          </a:prstGeom>
          <a:noFill/>
          <a:ln w="25400">
            <a:solidFill>
              <a:srgbClr val="1F5EFF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 rot="16200000">
            <a:off x="5779008" y="30906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EFF"/>
                </a:solidFill>
              </a:rPr>
              <a:t>Finalize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613648" y="2834640"/>
            <a:ext cx="-3840480" cy="822960"/>
          </a:xfrm>
          <a:prstGeom prst="line">
            <a:avLst/>
          </a:prstGeom>
          <a:noFill/>
          <a:ln w="25400">
            <a:solidFill>
              <a:srgbClr val="1F5EF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635240" y="4315968"/>
            <a:ext cx="-3840480" cy="612648"/>
          </a:xfrm>
          <a:prstGeom prst="line">
            <a:avLst/>
          </a:prstGeom>
          <a:noFill/>
          <a:ln w="25400">
            <a:solidFill>
              <a:srgbClr val="1F5EFF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914400" y="6016752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Key relationship: scope_id links Business Rules to Display; prj_id links all attribute records back to Master. Reference tables supply controlled Portfolio and Source values.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this reduces time, effort and operating cost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Value comes from removing manual touchpoints and moving validation earlier in the process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508760" cy="502920"/>
          </a:xfrm>
          <a:prstGeom prst="rect">
            <a:avLst/>
          </a:prstGeom>
          <a:solidFill>
            <a:srgbClr val="172B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Area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67128" y="1417320"/>
            <a:ext cx="2788920" cy="502920"/>
          </a:xfrm>
          <a:prstGeom prst="rect">
            <a:avLst/>
          </a:prstGeom>
          <a:solidFill>
            <a:srgbClr val="172B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554480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Manual / fragmented approach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56048" y="1417320"/>
            <a:ext cx="2880360" cy="502920"/>
          </a:xfrm>
          <a:prstGeom prst="rect">
            <a:avLst/>
          </a:prstGeom>
          <a:solidFill>
            <a:srgbClr val="172B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554480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With the platform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36408" y="1417320"/>
            <a:ext cx="3657600" cy="502920"/>
          </a:xfrm>
          <a:prstGeom prst="rect">
            <a:avLst/>
          </a:prstGeom>
          <a:solidFill>
            <a:srgbClr val="172B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55448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Value created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920240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020824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344054"/>
                </a:solidFill>
              </a:rPr>
              <a:t>Attribute change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167128" y="1920240"/>
            <a:ext cx="2788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2020824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44054"/>
                </a:solidFill>
              </a:rPr>
              <a:t>SQL / spreadsheet hand-offs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4956048" y="1920240"/>
            <a:ext cx="2880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020824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44054"/>
                </a:solidFill>
              </a:rPr>
              <a:t>Guided UI + API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7836408" y="1920240"/>
            <a:ext cx="3657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2020824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E9F6E"/>
                </a:solidFill>
              </a:rPr>
              <a:t>Less dependency and coordination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58368" y="2542032"/>
            <a:ext cx="150876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642616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344054"/>
                </a:solidFill>
              </a:rPr>
              <a:t>Bulk onboarding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167128" y="2542032"/>
            <a:ext cx="278892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2642616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44054"/>
                </a:solidFill>
              </a:rPr>
              <a:t>Row-by-row checking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4956048" y="2542032"/>
            <a:ext cx="288036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642616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44054"/>
                </a:solidFill>
              </a:rPr>
              <a:t>Mapped Excel + automated validation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836408" y="2542032"/>
            <a:ext cx="365760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2642616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E9F6E"/>
                </a:solidFill>
              </a:rPr>
              <a:t>Lower admin effort and rework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58368" y="3163824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264408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344054"/>
                </a:solidFill>
              </a:rPr>
              <a:t>Data quality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2167128" y="3163824"/>
            <a:ext cx="2788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326440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44054"/>
                </a:solidFill>
              </a:rPr>
              <a:t>Issues found late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4956048" y="3163824"/>
            <a:ext cx="2880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26440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44054"/>
                </a:solidFill>
              </a:rPr>
              <a:t>Duplicates/defaults checked before Final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7836408" y="3163824"/>
            <a:ext cx="3657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9560" y="3264408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E9F6E"/>
                </a:solidFill>
              </a:rPr>
              <a:t>Fewer failed loads and fixes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658368" y="3785616"/>
            <a:ext cx="150876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886200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344054"/>
                </a:solidFill>
              </a:rPr>
              <a:t>Release control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2167128" y="3785616"/>
            <a:ext cx="278892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40280" y="3886200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44054"/>
                </a:solidFill>
              </a:rPr>
              <a:t>Direct DB changes / unclear state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4956048" y="3785616"/>
            <a:ext cx="288036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88620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44054"/>
                </a:solidFill>
              </a:rPr>
              <a:t>Stage → Compare → Finalize / Discard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7836408" y="3785616"/>
            <a:ext cx="365760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09560" y="38862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E9F6E"/>
                </a:solidFill>
              </a:rPr>
              <a:t>Safer and faster decision-making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658368" y="4407408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507992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344054"/>
                </a:solidFill>
              </a:rPr>
              <a:t>Audit evidence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2167128" y="4407408"/>
            <a:ext cx="2788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40280" y="4507992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44054"/>
                </a:solidFill>
              </a:rPr>
              <a:t>Manual reconstruction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4956048" y="4407408"/>
            <a:ext cx="2880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450799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44054"/>
                </a:solidFill>
              </a:rPr>
              <a:t>Before/after + user + source + timestamp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7836408" y="4407408"/>
            <a:ext cx="3657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9560" y="4507992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E9F6E"/>
                </a:solidFill>
              </a:rPr>
              <a:t>Lower audit-preparation effort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658368" y="5029200"/>
            <a:ext cx="150876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5129784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344054"/>
                </a:solidFill>
              </a:rPr>
              <a:t>Multi-DB support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2167128" y="5029200"/>
            <a:ext cx="278892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40280" y="5129784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44054"/>
                </a:solidFill>
              </a:rPr>
              <a:t>Separate scripts/processes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4956048" y="5029200"/>
            <a:ext cx="288036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0" y="5129784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44054"/>
                </a:solidFill>
              </a:rPr>
              <a:t>Shared application across Postgres &amp; SQL Server</a:t>
            </a:r>
            <a:endParaRPr lang="en-US" sz="860" dirty="0"/>
          </a:p>
        </p:txBody>
      </p:sp>
      <p:sp>
        <p:nvSpPr>
          <p:cNvPr id="58" name="Shape 56"/>
          <p:cNvSpPr/>
          <p:nvPr/>
        </p:nvSpPr>
        <p:spPr>
          <a:xfrm>
            <a:off x="7836408" y="5029200"/>
            <a:ext cx="365760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09560" y="5129784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E9F6E"/>
                </a:solidFill>
              </a:rPr>
              <a:t>Lower maintenance overhead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658368" y="553212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FF5DF"/>
          </a:solidFill>
          <a:ln w="12700">
            <a:solidFill>
              <a:srgbClr val="F3DFB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8680" y="5696712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7A4D00"/>
                </a:solidFill>
              </a:rPr>
              <a:t>Important: the application does not “create savings by itself”; it creates the control and automation needed to eliminate repetitive checking, rework, deployment support and audit reconstruction.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quantify the business impact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Use a short pilot to convert operational improvements into measurable time and cost savings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230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1709928"/>
            <a:ext cx="438912" cy="438912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81051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E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99032" y="1600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</a:rPr>
              <a:t>Change turnaround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80360" y="158191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44054"/>
                </a:solidFill>
              </a:rPr>
              <a:t>Average minutes from request to staged / finalized attribute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230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64224" y="1709928"/>
            <a:ext cx="438912" cy="438912"/>
          </a:xfrm>
          <a:prstGeom prst="ellipse">
            <a:avLst/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81051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31152" y="1600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</a:rPr>
              <a:t>Manual effort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158191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44054"/>
                </a:solidFill>
              </a:rPr>
              <a:t>Number of SQL / spreadsheet touchpoints per change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685800" y="2679192"/>
            <a:ext cx="5230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" y="2971800"/>
            <a:ext cx="438912" cy="438912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07238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E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9903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</a:rPr>
              <a:t>Bulk quality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80360" y="284378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44054"/>
                </a:solidFill>
              </a:rPr>
              <a:t>Rejected rows and rework cycles per workbook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6217920" y="2679192"/>
            <a:ext cx="5230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4224" y="2971800"/>
            <a:ext cx="438912" cy="438912"/>
          </a:xfrm>
          <a:prstGeom prst="ellipse">
            <a:avLst/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307238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3115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</a:rPr>
              <a:t>Finalize reliability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284378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44054"/>
                </a:solidFill>
              </a:rPr>
              <a:t>Failed / rolled-back publication attempts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685800" y="3941064"/>
            <a:ext cx="5230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" y="4233672"/>
            <a:ext cx="438912" cy="438912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3342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E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99032" y="41239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</a:rPr>
              <a:t>Audit effort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80360" y="410565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44054"/>
                </a:solidFill>
              </a:rPr>
              <a:t>Time to reconstruct evidence for a change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6217920" y="3941064"/>
            <a:ext cx="5230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64224" y="4233672"/>
            <a:ext cx="438912" cy="438912"/>
          </a:xfrm>
          <a:prstGeom prst="ellipse">
            <a:avLst/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9944" y="43342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31152" y="41239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</a:rPr>
              <a:t>Support dependency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0" y="410565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44054"/>
                </a:solidFill>
              </a:rPr>
              <a:t>Engineering / DBA interventions per release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685800" y="5285232"/>
            <a:ext cx="10954512" cy="621792"/>
          </a:xfrm>
          <a:prstGeom prst="roundRect">
            <a:avLst>
              <a:gd name="adj" fmla="val 11765"/>
            </a:avLst>
          </a:prstGeom>
          <a:solidFill>
            <a:srgbClr val="172B4D"/>
          </a:solidFill>
          <a:ln w="12700">
            <a:solidFill>
              <a:srgbClr val="172B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4681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B6FF"/>
                </a:solidFill>
              </a:rPr>
              <a:t>Indicative savings formula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468880" y="539496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(Baseline effort − Platform effort) × change volume × blended resource cost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098280" y="544982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CE6FF"/>
                </a:solidFill>
              </a:rPr>
              <a:t>+ avoided rework / incident / audit-preparation cost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this platform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CE6FF"/>
                </a:solidFill>
              </a:rPr>
              <a:t>It turns Data Dictionary administration from a manual database activity into a controlled product workflow.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" y="2880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20385F"/>
          </a:solidFill>
          <a:ln w="12700">
            <a:solidFill>
              <a:srgbClr val="2B47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3154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B0FF"/>
                </a:solidFill>
              </a:rPr>
              <a:t>Faster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0976" y="37033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Self-service UI, bulk upload and reusable API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93008" y="2880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C3357"/>
          </a:solidFill>
          <a:ln w="12700">
            <a:solidFill>
              <a:srgbClr val="2B47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888" y="3154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B0FF"/>
                </a:solidFill>
              </a:rPr>
              <a:t>Safer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94176" y="37033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Validation, staging, delta preview and transactional Finalize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6208" y="2880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20385F"/>
          </a:solidFill>
          <a:ln w="12700">
            <a:solidFill>
              <a:srgbClr val="2B47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3154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E0CF"/>
                </a:solidFill>
              </a:rPr>
              <a:t>Cheaper to operate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37376" y="37033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Less repetitive checking, rework and specialist intervention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79408" y="2880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C3357"/>
          </a:solidFill>
          <a:ln w="12700">
            <a:solidFill>
              <a:srgbClr val="2B47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62288" y="3154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E0CF"/>
                </a:solidFill>
              </a:rPr>
              <a:t>Easier to govern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80576" y="37033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Audit trail, selective Discard and controlled reference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Suggested demo: Upload workbook → Validate/Compare → inspect Delta → Finalize selected PRJs → Discard one pending change → show Audit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03320" y="63093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6FF"/>
                </a:solidFill>
              </a:rPr>
              <a:t>PRJ Data Dictionary Administration Platform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PRJ Data Dictionary Administration Platform</dc:title>
  <dc:subject>PRJ Data Dictionary Administration Platform</dc:subject>
  <dc:creator>OpenAI</dc:creator>
  <cp:lastModifiedBy>OpenAI</cp:lastModifiedBy>
  <cp:revision>1</cp:revision>
  <dcterms:created xsi:type="dcterms:W3CDTF">2026-09-09T04:47:07Z</dcterms:created>
  <dcterms:modified xsi:type="dcterms:W3CDTF">2026-09-09T04:47:07Z</dcterms:modified>
</cp:coreProperties>
</file>